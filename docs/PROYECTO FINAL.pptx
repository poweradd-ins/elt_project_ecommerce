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1" r:id="rId4"/>
    <p:sldId id="286" r:id="rId5"/>
    <p:sldId id="282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01DC0-08F0-024D-393B-3127D082D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F9E8F4-D34A-9116-5D6C-F0D5BA612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F305F-5F27-A8BF-65B7-64AAD15D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2F28E3-858C-0142-5A93-F3DC3C18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1BA86-5C93-6B39-96B9-17D848C9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890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BEF54-0343-65C7-51B0-68C65DB1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85E6BA-4A53-BFC8-8BB5-522F375F1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77DBDB-E52B-DB43-5C5F-70ACE9A1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46B3CC-13D9-9015-E252-14FEB985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E44CBF-85A5-6F49-63DE-C26E848E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818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F502-3562-8C3F-B9A0-C30DCFBB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76D389-9C11-86EC-E876-23CADED2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9AB4A-B687-9FCC-B3F7-7B0705AB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BDCE84-5616-A9D3-E918-037F6732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17065-204B-2E12-D266-30308627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481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30D92-0EBB-CE5F-26B0-71AD2E6E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55BA18-A7C1-223A-6EBE-F62B5281C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EC33B3-88D9-1E3A-CC9A-300198753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9ACCF3-35EE-C1EE-9E57-8322487B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A79ECB-ECF0-30DE-6C3F-FB54F506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993B5C-15FF-9455-AC0A-B94B45CF0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557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F5CB7-06C7-A72A-353A-38AF0F72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B59822-B45D-591B-6714-562E6AC15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F7CF5A-DAD7-112B-536A-4824224E4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20913D-E380-D0DA-B9C2-8C748CF2F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069712-BEBD-9366-3301-0C15FC10D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20B489-6E0C-3A68-0FD2-C8ADBE7A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F68956-B7ED-B839-5DAA-EB0A0330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51F4BA9-E97C-10FE-EF2D-E16B19EB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264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C030C-2AF0-89CD-3DCA-F9A5C43B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28B5AC-B22E-7DFB-1DBC-4968F03B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FAEBE-656A-C127-0790-9A09D01C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3FEF7B-7A16-0680-3656-D4623F83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794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E19483-9BB0-709D-CBE7-CA0A5D84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EFE517-A887-2078-9E72-4DE4DA79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2E3A4-363F-9F79-8A3D-F523C2CA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016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ED0E8-42E9-89EE-6F0A-A2379DE8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3370E1-8C0E-CFB3-1F31-E5DBA8D2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E0CF71-B95F-3F5F-D550-7042EF364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5F79D4-376B-99C2-14D4-E67B1C31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EB9F06-0B70-982A-6AEC-65BCDE7B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298F2B-F879-33DD-08F7-96DA74D7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268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58516-F89D-3384-E0F0-F2C7189D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CAFDD0-13FF-71E0-EF6E-7F81067E0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31F628-6569-9FCC-8C5B-F709D19EB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E49EB8-ED84-DEF0-A6AC-B05A6ADA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3BFD5B-2911-9E5F-4A5C-F7F5B5F6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8A0C54-F200-B26C-D29E-9B90614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69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B6C4F-283E-A58B-B030-2F72E9CE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31306A-EBCC-2A98-8D6A-B0EB6A628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7935D-8C0D-9E83-0FAD-819A9BAC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C8D124-AD9F-2481-FE0E-84137BD3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5C8F62-404C-0318-6871-F1288AF0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210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F5DCE9-EB1D-D0F5-A01B-5AC98AD92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0013C0-872C-6254-2001-BDD6DFAFF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E4E72E-6468-FB61-3297-73DEBC6F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A9869-9A2F-D670-D716-E1E72016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4A6825-CA51-F561-5EFC-22D914DF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241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B3BCA4-3E3E-3622-5973-DFB59FDE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DA9AB9-F339-5BFD-4320-E50CA4BCA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F39C22-3C06-7DAF-FF61-0840DE467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26BA7-38ED-4290-911D-A931F9939290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5F2EE-777D-613A-E32A-CEC5F8EE4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81FCBF-0430-CA66-2775-58F006C8D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10F0C-FA66-47B6-BAD6-C6FDA2D3255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103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29005D-888B-812F-5C39-95F352486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330199"/>
            <a:ext cx="10129687" cy="5393267"/>
          </a:xfrm>
        </p:spPr>
        <p:txBody>
          <a:bodyPr anchor="ctr">
            <a:normAutofit/>
          </a:bodyPr>
          <a:lstStyle/>
          <a:p>
            <a:r>
              <a:rPr lang="es-PE" sz="3200" dirty="0">
                <a:solidFill>
                  <a:schemeClr val="bg1"/>
                </a:solidFill>
              </a:rPr>
              <a:t>Implementación de Arquitectura Lakehouse Inteligente: </a:t>
            </a:r>
            <a:br>
              <a:rPr lang="es-PE" sz="3200" dirty="0">
                <a:solidFill>
                  <a:schemeClr val="bg1"/>
                </a:solidFill>
              </a:rPr>
            </a:br>
            <a:r>
              <a:rPr lang="es-PE" sz="3200" dirty="0">
                <a:solidFill>
                  <a:schemeClr val="bg1"/>
                </a:solidFill>
              </a:rPr>
              <a:t>Pipeline Batch y Modelado Predictivo de Clientes VIP.</a:t>
            </a:r>
            <a:br>
              <a:rPr lang="es-PE" sz="3200" dirty="0">
                <a:solidFill>
                  <a:schemeClr val="bg1"/>
                </a:solidFill>
              </a:rPr>
            </a:br>
            <a:br>
              <a:rPr lang="es-PE" sz="3200" dirty="0">
                <a:solidFill>
                  <a:schemeClr val="bg1"/>
                </a:solidFill>
              </a:rPr>
            </a:br>
            <a:r>
              <a:rPr lang="es-PE" sz="2000" b="1" dirty="0">
                <a:solidFill>
                  <a:schemeClr val="bg1"/>
                </a:solidFill>
              </a:rPr>
              <a:t>Estructura del Proceso:</a:t>
            </a:r>
            <a:r>
              <a:rPr lang="es-PE" sz="2000" dirty="0">
                <a:solidFill>
                  <a:schemeClr val="bg1"/>
                </a:solidFill>
              </a:rPr>
              <a:t> Desde la Fuente Cruda (ADLS Gen2) hasta el Consumo de Negocio (BI + ML).</a:t>
            </a: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rgbClr val="FFFFFF"/>
                </a:solidFill>
              </a:rPr>
            </a:br>
            <a:br>
              <a:rPr lang="es-PE" sz="2000" dirty="0">
                <a:solidFill>
                  <a:srgbClr val="FFFFFF"/>
                </a:solidFill>
              </a:rPr>
            </a:br>
            <a:r>
              <a:rPr lang="es-PE" sz="2000" dirty="0">
                <a:solidFill>
                  <a:srgbClr val="FFFFFF"/>
                </a:solidFill>
              </a:rPr>
              <a:t>Autor: Ernesto Luyo</a:t>
            </a:r>
            <a:br>
              <a:rPr lang="es-PE" sz="3000" dirty="0">
                <a:solidFill>
                  <a:srgbClr val="FFFFFF"/>
                </a:solidFill>
              </a:rPr>
            </a:br>
            <a:endParaRPr lang="es-PE" sz="3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67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A7A6D-3B9A-7EBE-1AF9-267DD17BD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1438AB0-5933-FEEE-0FC6-340C73EDC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A94E62-C21C-6187-5F7D-A09222F7C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4B9B5-2610-F330-E3C1-449ADB5A1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37DB3A-1F73-0593-EA5C-2C13B893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B89853-F70F-14A5-CDBF-AD185D6E7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7D30F3-6050-63A9-CD7D-FA9EDD39E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E7AD478-9057-BFEC-4C56-6A76BB0A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59D5D5-5362-5FC8-AE57-0F32B89F9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5"/>
            <a:ext cx="8147713" cy="5023261"/>
          </a:xfrm>
        </p:spPr>
        <p:txBody>
          <a:bodyPr anchor="ctr">
            <a:noAutofit/>
          </a:bodyPr>
          <a:lstStyle/>
          <a:p>
            <a:pPr lvl="0" algn="l"/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b="1" dirty="0">
                <a:solidFill>
                  <a:schemeClr val="bg1"/>
                </a:solidFill>
              </a:rPr>
              <a:t>El Problema:</a:t>
            </a:r>
            <a:r>
              <a:rPr lang="es-PE" sz="2000" dirty="0">
                <a:solidFill>
                  <a:schemeClr val="bg1"/>
                </a:solidFill>
              </a:rPr>
              <a:t> </a:t>
            </a:r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dirty="0">
                <a:solidFill>
                  <a:schemeClr val="bg1"/>
                </a:solidFill>
              </a:rPr>
              <a:t>El equipo de marketing de e-</a:t>
            </a:r>
            <a:r>
              <a:rPr lang="es-PE" sz="2000" dirty="0" err="1">
                <a:solidFill>
                  <a:schemeClr val="bg1"/>
                </a:solidFill>
              </a:rPr>
              <a:t>commerce</a:t>
            </a:r>
            <a:r>
              <a:rPr lang="es-PE" sz="2000" dirty="0">
                <a:solidFill>
                  <a:schemeClr val="bg1"/>
                </a:solidFill>
              </a:rPr>
              <a:t> gasta presupuesto masivo ineficiente enviando promociones genéricas a toda la base de usuarios. Existen pérdidas económicas por falta de segmentación, problemas de calidad de datos en el origen (ventas duplicadas y campos corruptos) y falta de</a:t>
            </a:r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dirty="0">
                <a:solidFill>
                  <a:schemeClr val="bg1"/>
                </a:solidFill>
              </a:rPr>
              <a:t> visibilidad del comportamiento del consumidor en tiempo real.</a:t>
            </a: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b="1" dirty="0">
                <a:solidFill>
                  <a:schemeClr val="bg1"/>
                </a:solidFill>
              </a:rPr>
              <a:t>El Objetivo:</a:t>
            </a:r>
            <a:r>
              <a:rPr lang="es-PE" sz="2000" dirty="0">
                <a:solidFill>
                  <a:schemeClr val="bg1"/>
                </a:solidFill>
              </a:rPr>
              <a:t> </a:t>
            </a:r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dirty="0">
                <a:solidFill>
                  <a:schemeClr val="bg1"/>
                </a:solidFill>
              </a:rPr>
              <a:t>Diseñar un pipeline de datos moderno, automatizado e integrado que extraiga, limpie y certifique la información de transacciones de e-</a:t>
            </a:r>
            <a:r>
              <a:rPr lang="es-PE" sz="2000" dirty="0" err="1">
                <a:solidFill>
                  <a:schemeClr val="bg1"/>
                </a:solidFill>
              </a:rPr>
              <a:t>commerce</a:t>
            </a:r>
            <a:r>
              <a:rPr lang="es-PE" sz="2000" dirty="0">
                <a:solidFill>
                  <a:schemeClr val="bg1"/>
                </a:solidFill>
              </a:rPr>
              <a:t>. Construir un modelo predictivo capaz de identificar tempranamente a los clientes de Alto Valor (VIP) con métricas confiables para optimizar la toma de decisiones estratégicas.</a:t>
            </a: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chemeClr val="bg1"/>
                </a:solidFill>
              </a:rPr>
            </a:br>
            <a:endParaRPr lang="es-PE" sz="20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5C0061-7C40-A7AA-8BD8-76D68C939020}"/>
              </a:ext>
            </a:extLst>
          </p:cNvPr>
          <p:cNvSpPr txBox="1"/>
          <p:nvPr/>
        </p:nvSpPr>
        <p:spPr>
          <a:xfrm>
            <a:off x="1442402" y="204169"/>
            <a:ext cx="92980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600" dirty="0">
                <a:solidFill>
                  <a:schemeClr val="bg1"/>
                </a:solidFill>
              </a:rPr>
              <a:t>Problema de Negocio y Objetivos Estratégicos</a:t>
            </a:r>
            <a:br>
              <a:rPr lang="es-PE" sz="3600" dirty="0">
                <a:solidFill>
                  <a:schemeClr val="bg1"/>
                </a:solidFill>
              </a:rPr>
            </a:b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290130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3C3EC-2AC8-12E5-3AD7-A5EF1C30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A7DDC37-AAC3-3BC8-425D-DE43FFAC1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C07D0-F74B-5673-BDBE-C13E72E3C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43A494-342F-5C66-CF03-CACAFEC0D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CEABB1-6AC2-E3BF-7EFD-DAA1102A0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9E53E3-455F-20A6-E319-629DE5BA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2ABB37-7A47-FB59-122D-A146A4AB8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BF609D7-20F6-E11A-541D-7476D4E0B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3D8CD3-5BB8-1000-F9F5-4BDB1CAE8A07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bg1"/>
                </a:solidFill>
              </a:rPr>
              <a:t>Arquitectura Tecnológica Elegida  (¿Por qué Azure + </a:t>
            </a:r>
            <a:r>
              <a:rPr lang="es-PE" sz="3600" dirty="0" err="1">
                <a:solidFill>
                  <a:schemeClr val="bg1"/>
                </a:solidFill>
              </a:rPr>
              <a:t>dbt</a:t>
            </a:r>
            <a:r>
              <a:rPr lang="es-PE" sz="3600" dirty="0">
                <a:solidFill>
                  <a:schemeClr val="bg1"/>
                </a:solidFill>
              </a:rPr>
              <a:t>?)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FA7769-7108-0654-93B2-2A0385A12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968" y="1159987"/>
            <a:ext cx="8437033" cy="3798676"/>
          </a:xfrm>
        </p:spPr>
        <p:txBody>
          <a:bodyPr>
            <a:noAutofit/>
          </a:bodyPr>
          <a:lstStyle/>
          <a:p>
            <a:pPr algn="just"/>
            <a:r>
              <a:rPr lang="es-PE" sz="2000" b="1" dirty="0">
                <a:solidFill>
                  <a:schemeClr val="bg1"/>
                </a:solidFill>
              </a:rPr>
              <a:t>El Ecosistema Cloud:</a:t>
            </a:r>
            <a:r>
              <a:rPr lang="es-PE" sz="2000" dirty="0">
                <a:solidFill>
                  <a:schemeClr val="bg1"/>
                </a:solidFill>
              </a:rPr>
              <a:t> Azure Data Factory (Orquestador) + ADLS Gen2 (Almacenamiento arquitectura </a:t>
            </a:r>
            <a:r>
              <a:rPr lang="es-PE" sz="2000" dirty="0" err="1">
                <a:solidFill>
                  <a:schemeClr val="bg1"/>
                </a:solidFill>
              </a:rPr>
              <a:t>Medallion</a:t>
            </a:r>
            <a:r>
              <a:rPr lang="es-PE" sz="2000" dirty="0">
                <a:solidFill>
                  <a:schemeClr val="bg1"/>
                </a:solidFill>
              </a:rPr>
              <a:t>) + Azure Databricks Single Node (Motor de procesamiento Spark de alto rendimiento y bajo costo).</a:t>
            </a:r>
            <a:br>
              <a:rPr lang="es-PE" sz="2000" dirty="0">
                <a:solidFill>
                  <a:schemeClr val="bg1"/>
                </a:solidFill>
              </a:rPr>
            </a:br>
            <a:br>
              <a:rPr lang="es-PE" sz="2000" dirty="0">
                <a:solidFill>
                  <a:schemeClr val="bg1"/>
                </a:solidFill>
              </a:rPr>
            </a:br>
            <a:r>
              <a:rPr lang="es-PE" sz="2000" b="1" dirty="0">
                <a:solidFill>
                  <a:schemeClr val="bg1"/>
                </a:solidFill>
              </a:rPr>
              <a:t>Gobernanza y Transformación: </a:t>
            </a:r>
            <a:r>
              <a:rPr lang="es-PE" sz="2000" dirty="0" err="1">
                <a:solidFill>
                  <a:schemeClr val="bg1"/>
                </a:solidFill>
              </a:rPr>
              <a:t>dbt</a:t>
            </a:r>
            <a:r>
              <a:rPr lang="es-PE" sz="2000" dirty="0">
                <a:solidFill>
                  <a:schemeClr val="bg1"/>
                </a:solidFill>
              </a:rPr>
              <a:t> Core centraliza las transformaciones mediante SQL modular y automatiza las reglas de control de calidad. Unity </a:t>
            </a:r>
            <a:r>
              <a:rPr lang="es-PE" sz="2000" dirty="0" err="1">
                <a:solidFill>
                  <a:schemeClr val="bg1"/>
                </a:solidFill>
              </a:rPr>
              <a:t>Catalog</a:t>
            </a:r>
            <a:r>
              <a:rPr lang="es-PE" sz="2000" dirty="0">
                <a:solidFill>
                  <a:schemeClr val="bg1"/>
                </a:solidFill>
              </a:rPr>
              <a:t> asegura la gobernanza de datos aislando los esquemas (raw, </a:t>
            </a:r>
            <a:r>
              <a:rPr lang="es-PE" sz="2000" dirty="0" err="1">
                <a:solidFill>
                  <a:schemeClr val="bg1"/>
                </a:solidFill>
              </a:rPr>
              <a:t>silver</a:t>
            </a:r>
            <a:r>
              <a:rPr lang="es-PE" sz="2000" dirty="0">
                <a:solidFill>
                  <a:schemeClr val="bg1"/>
                </a:solidFill>
              </a:rPr>
              <a:t>, </a:t>
            </a:r>
            <a:r>
              <a:rPr lang="es-PE" sz="2000" dirty="0" err="1">
                <a:solidFill>
                  <a:schemeClr val="bg1"/>
                </a:solidFill>
              </a:rPr>
              <a:t>gold</a:t>
            </a:r>
            <a:r>
              <a:rPr lang="es-PE" sz="2000" dirty="0">
                <a:solidFill>
                  <a:schemeClr val="bg1"/>
                </a:solidFill>
              </a:rPr>
              <a:t>) mediante políticas de seguridad estructuradas</a:t>
            </a:r>
            <a:r>
              <a:rPr lang="es-PE" sz="2000" b="1" dirty="0">
                <a:solidFill>
                  <a:schemeClr val="bg1"/>
                </a:solidFill>
              </a:rPr>
              <a:t>.</a:t>
            </a:r>
            <a:br>
              <a:rPr lang="es-PE" sz="2000" b="1" dirty="0">
                <a:solidFill>
                  <a:schemeClr val="bg1"/>
                </a:solidFill>
              </a:rPr>
            </a:br>
            <a:br>
              <a:rPr lang="es-PE" sz="2000" b="1" dirty="0">
                <a:solidFill>
                  <a:schemeClr val="bg1"/>
                </a:solidFill>
              </a:rPr>
            </a:b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00393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EEA1B-2D06-D018-D717-1EB82847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49FF8EC-1773-B193-A581-FE5EEFBF0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F1E1C2-8FAD-FEA9-E595-7EFB9E278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208DD3-B8B1-935F-DC21-276F6101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36134B-F079-64DC-02D6-DC385E12F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26A0A-D565-7945-DFE2-441EEBBEF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8D1000-4C3A-74E7-3640-59E12B30B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880EB9-FC2D-1E2B-3867-A965FA6D3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56F4AD0-7082-CE85-8BE0-7BA4ACC3F8BF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dirty="0">
                <a:solidFill>
                  <a:schemeClr val="bg1"/>
                </a:solidFill>
              </a:rPr>
              <a:t>Arquitectura Tecnológica Elegida  (¿Por qué Azure + </a:t>
            </a:r>
            <a:r>
              <a:rPr lang="es-PE" sz="3600" dirty="0" err="1">
                <a:solidFill>
                  <a:schemeClr val="bg1"/>
                </a:solidFill>
              </a:rPr>
              <a:t>dbt</a:t>
            </a:r>
            <a:r>
              <a:rPr lang="es-PE" sz="3600" dirty="0">
                <a:solidFill>
                  <a:schemeClr val="bg1"/>
                </a:solidFill>
              </a:rPr>
              <a:t>?)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35BD398-6BE4-0E5D-3DEB-BBE3FB7E54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D0266C-E95C-4792-0D0B-61AD30A9A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84"/>
          <a:stretch>
            <a:fillRect/>
          </a:stretch>
        </p:blipFill>
        <p:spPr>
          <a:xfrm>
            <a:off x="1318869" y="904091"/>
            <a:ext cx="9549319" cy="574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1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541A4-9AF0-530F-91D0-1DA70D123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EEAC053-3EB8-5B77-4BA8-B2CAB52E6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692B1E-46A5-C59F-10A0-7E67B96EA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057261-9C53-9382-9838-F72C75840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0E66D1-6730-9E29-19E5-E485D95DC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8A2E40-EF98-5486-F00F-7D942F353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F8DA22-BF14-B019-DE20-152F31F62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4B74150-F365-10E9-164E-B4ADA46B2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219DEB-DBA5-F484-6FD5-DD61AE9C50A1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Control de Calidad de Datos (Data </a:t>
            </a:r>
            <a:r>
              <a:rPr lang="es-ES" sz="3600" dirty="0" err="1">
                <a:solidFill>
                  <a:schemeClr val="bg1"/>
                </a:solidFill>
              </a:rPr>
              <a:t>Quality</a:t>
            </a:r>
            <a:r>
              <a:rPr lang="es-ES" sz="3600" dirty="0">
                <a:solidFill>
                  <a:schemeClr val="bg1"/>
                </a:solidFill>
              </a:rPr>
              <a:t> &amp; Gobierno)</a:t>
            </a:r>
            <a:endParaRPr lang="es-PE" sz="3600" dirty="0">
              <a:solidFill>
                <a:schemeClr val="bg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D98801A-4924-1350-11A6-371261084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67" y="1159987"/>
            <a:ext cx="10510019" cy="4729040"/>
          </a:xfrm>
        </p:spPr>
        <p:txBody>
          <a:bodyPr>
            <a:noAutofit/>
          </a:bodyPr>
          <a:lstStyle/>
          <a:p>
            <a:pPr algn="l"/>
            <a:r>
              <a:rPr lang="es-PE" sz="2000" b="1" dirty="0">
                <a:solidFill>
                  <a:schemeClr val="bg1"/>
                </a:solidFill>
              </a:rPr>
              <a:t>El </a:t>
            </a:r>
            <a:r>
              <a:rPr lang="es-ES" sz="2000" b="1" dirty="0">
                <a:solidFill>
                  <a:schemeClr val="bg1"/>
                </a:solidFill>
              </a:rPr>
              <a:t>Cuarentena Bloqueante (Capa RAW): </a:t>
            </a:r>
            <a:r>
              <a:rPr lang="es-ES" sz="2000" dirty="0">
                <a:solidFill>
                  <a:schemeClr val="bg1"/>
                </a:solidFill>
              </a:rPr>
              <a:t>Filtro inmediato en </a:t>
            </a:r>
            <a:r>
              <a:rPr lang="es-ES" sz="2000" dirty="0" err="1">
                <a:solidFill>
                  <a:schemeClr val="bg1"/>
                </a:solidFill>
              </a:rPr>
              <a:t>PySpark</a:t>
            </a:r>
            <a:r>
              <a:rPr lang="es-ES" sz="2000" dirty="0">
                <a:solidFill>
                  <a:schemeClr val="bg1"/>
                </a:solidFill>
              </a:rPr>
              <a:t> que ataja y desvía registros con identificadores vacíos, cantidades nulas o precios negativos hacia la tabla aislada </a:t>
            </a:r>
            <a:r>
              <a:rPr lang="es-ES" sz="2000" dirty="0" err="1">
                <a:solidFill>
                  <a:schemeClr val="bg1"/>
                </a:solidFill>
              </a:rPr>
              <a:t>quarantine_sales</a:t>
            </a:r>
            <a:r>
              <a:rPr lang="es-ES" sz="2000" dirty="0">
                <a:solidFill>
                  <a:schemeClr val="bg1"/>
                </a:solidFill>
              </a:rPr>
              <a:t>. Los datos inválidos no contaminan las fases posteriores.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b="1" dirty="0">
                <a:solidFill>
                  <a:schemeClr val="bg1"/>
                </a:solidFill>
              </a:rPr>
            </a:br>
            <a:r>
              <a:rPr lang="es-ES" sz="2000" b="1" dirty="0">
                <a:solidFill>
                  <a:schemeClr val="bg1"/>
                </a:solidFill>
              </a:rPr>
              <a:t>Auditoría con </a:t>
            </a:r>
            <a:r>
              <a:rPr lang="es-ES" sz="2000" b="1" dirty="0" err="1">
                <a:solidFill>
                  <a:schemeClr val="bg1"/>
                </a:solidFill>
              </a:rPr>
              <a:t>dbt</a:t>
            </a:r>
            <a:r>
              <a:rPr lang="es-ES" sz="2000" b="1" dirty="0">
                <a:solidFill>
                  <a:schemeClr val="bg1"/>
                </a:solidFill>
              </a:rPr>
              <a:t> Core (Capa Silver): </a:t>
            </a:r>
            <a:r>
              <a:rPr lang="es-ES" sz="2000" dirty="0">
                <a:solidFill>
                  <a:schemeClr val="bg1"/>
                </a:solidFill>
              </a:rPr>
              <a:t>Implementación de 6 pruebas automatizadas de control técnico (</a:t>
            </a:r>
            <a:r>
              <a:rPr lang="es-ES" sz="2000" dirty="0" err="1">
                <a:solidFill>
                  <a:schemeClr val="bg1"/>
                </a:solidFill>
              </a:rPr>
              <a:t>unique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 err="1">
                <a:solidFill>
                  <a:schemeClr val="bg1"/>
                </a:solidFill>
              </a:rPr>
              <a:t>not_null</a:t>
            </a:r>
            <a:r>
              <a:rPr lang="es-ES" sz="2000" dirty="0">
                <a:solidFill>
                  <a:schemeClr val="bg1"/>
                </a:solidFill>
              </a:rPr>
              <a:t>, </a:t>
            </a:r>
            <a:r>
              <a:rPr lang="es-ES" sz="2000" dirty="0" err="1">
                <a:solidFill>
                  <a:schemeClr val="bg1"/>
                </a:solidFill>
              </a:rPr>
              <a:t>relationships</a:t>
            </a:r>
            <a:r>
              <a:rPr lang="es-ES" sz="2000" dirty="0">
                <a:solidFill>
                  <a:schemeClr val="bg1"/>
                </a:solidFill>
              </a:rPr>
              <a:t>).</a:t>
            </a:r>
            <a:br>
              <a:rPr lang="es-ES" sz="2000" b="1" dirty="0">
                <a:solidFill>
                  <a:schemeClr val="bg1"/>
                </a:solidFill>
              </a:rPr>
            </a:br>
            <a:br>
              <a:rPr lang="es-ES" sz="2000" b="1" dirty="0">
                <a:solidFill>
                  <a:schemeClr val="bg1"/>
                </a:solidFill>
              </a:rPr>
            </a:br>
            <a:r>
              <a:rPr lang="es-ES" sz="2000" b="1" dirty="0">
                <a:solidFill>
                  <a:schemeClr val="bg1"/>
                </a:solidFill>
              </a:rPr>
              <a:t>Evidencia de Éxito/Fallo: </a:t>
            </a:r>
            <a:r>
              <a:rPr lang="es-ES" sz="2000" dirty="0">
                <a:solidFill>
                  <a:schemeClr val="bg1"/>
                </a:solidFill>
              </a:rPr>
              <a:t>Demostración de cómo el sistema captura anomalías: el test de </a:t>
            </a:r>
            <a:r>
              <a:rPr lang="es-ES" sz="2000" dirty="0" err="1">
                <a:solidFill>
                  <a:schemeClr val="bg1"/>
                </a:solidFill>
              </a:rPr>
              <a:t>dbt</a:t>
            </a:r>
            <a:r>
              <a:rPr lang="es-ES" sz="2000" dirty="0">
                <a:solidFill>
                  <a:schemeClr val="bg1"/>
                </a:solidFill>
              </a:rPr>
              <a:t> detectó 5 duplicados inyectados adrede y los aisló físicamente mediante el parámetro --store-</a:t>
            </a:r>
            <a:r>
              <a:rPr lang="es-ES" sz="2000" dirty="0" err="1">
                <a:solidFill>
                  <a:schemeClr val="bg1"/>
                </a:solidFill>
              </a:rPr>
              <a:t>failures</a:t>
            </a:r>
            <a:r>
              <a:rPr lang="es-ES" sz="2000" dirty="0">
                <a:solidFill>
                  <a:schemeClr val="bg1"/>
                </a:solidFill>
              </a:rPr>
              <a:t> en una tabla de auditoría dedicada para su revisión, resolviendo el problema de raíz en la transformación aplicando una ventana analítica ROW_NUMBER().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PE" sz="1600" b="1" dirty="0">
                <a:solidFill>
                  <a:schemeClr val="bg1"/>
                </a:solidFill>
              </a:rPr>
            </a:br>
            <a:br>
              <a:rPr lang="es-PE" sz="1600" b="1" dirty="0">
                <a:solidFill>
                  <a:schemeClr val="bg1"/>
                </a:solidFill>
              </a:rPr>
            </a:b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414719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4216D-3006-2761-EDE3-0443FD259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3439439-7465-54B7-64F8-2D9B7B87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69B3F6-89CE-1696-A6A5-B82BDC69F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217CF9-BC6B-FB46-AFC7-340EFF3FF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B73935-78C3-49DE-5704-0CFDF52EC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1183E3-0582-713A-60F5-FD81F902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4F0314-1495-FFB6-4566-C9630A852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0D14667-A940-36CB-8595-5C120358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148C2F-D9ED-260E-08FD-C7677394707E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Feature Engineering &amp; Modelo de Machine Learning</a:t>
            </a:r>
            <a:endParaRPr lang="es-PE" sz="3600" dirty="0">
              <a:solidFill>
                <a:schemeClr val="bg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2C8693F-D9FE-D326-FFEC-96BB3377C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67" y="1159987"/>
            <a:ext cx="10510019" cy="4729040"/>
          </a:xfrm>
        </p:spPr>
        <p:txBody>
          <a:bodyPr>
            <a:noAutofit/>
          </a:bodyPr>
          <a:lstStyle/>
          <a:p>
            <a:pPr algn="l"/>
            <a:r>
              <a:rPr lang="es-ES" sz="2000" b="1" dirty="0">
                <a:solidFill>
                  <a:schemeClr val="bg1"/>
                </a:solidFill>
              </a:rPr>
              <a:t>Preparación del </a:t>
            </a:r>
            <a:r>
              <a:rPr lang="es-ES" sz="2000" b="1" dirty="0" err="1">
                <a:solidFill>
                  <a:schemeClr val="bg1"/>
                </a:solidFill>
              </a:rPr>
              <a:t>Feature</a:t>
            </a:r>
            <a:r>
              <a:rPr lang="es-ES" sz="2000" b="1" dirty="0">
                <a:solidFill>
                  <a:schemeClr val="bg1"/>
                </a:solidFill>
              </a:rPr>
              <a:t> Store (Capa Gold): </a:t>
            </a:r>
            <a:r>
              <a:rPr lang="es-ES" sz="2000" dirty="0">
                <a:solidFill>
                  <a:schemeClr val="bg1"/>
                </a:solidFill>
              </a:rPr>
              <a:t>Construcción del modelo customer_360 calculando variables analíticas clave solicitadas: </a:t>
            </a:r>
            <a:r>
              <a:rPr lang="es-ES" sz="2000" dirty="0" err="1">
                <a:solidFill>
                  <a:schemeClr val="bg1"/>
                </a:solidFill>
              </a:rPr>
              <a:t>Recency</a:t>
            </a:r>
            <a:r>
              <a:rPr lang="es-ES" sz="2000" dirty="0">
                <a:solidFill>
                  <a:schemeClr val="bg1"/>
                </a:solidFill>
              </a:rPr>
              <a:t> (días desde la última compra), </a:t>
            </a:r>
            <a:r>
              <a:rPr lang="es-ES" sz="2000" dirty="0" err="1">
                <a:solidFill>
                  <a:schemeClr val="bg1"/>
                </a:solidFill>
              </a:rPr>
              <a:t>Frequency</a:t>
            </a:r>
            <a:r>
              <a:rPr lang="es-ES" sz="2000" dirty="0">
                <a:solidFill>
                  <a:schemeClr val="bg1"/>
                </a:solidFill>
              </a:rPr>
              <a:t> (órdenes totales, frecuencia a 30 y 90 días), </a:t>
            </a:r>
            <a:r>
              <a:rPr lang="es-ES" sz="2000" dirty="0" err="1">
                <a:solidFill>
                  <a:schemeClr val="bg1"/>
                </a:solidFill>
              </a:rPr>
              <a:t>Monetary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Value</a:t>
            </a:r>
            <a:r>
              <a:rPr lang="es-ES" sz="2000" dirty="0">
                <a:solidFill>
                  <a:schemeClr val="bg1"/>
                </a:solidFill>
              </a:rPr>
              <a:t> (gasto total), Ticket Promedio y Antigüedad (</a:t>
            </a:r>
            <a:r>
              <a:rPr lang="es-ES" sz="2000" dirty="0" err="1">
                <a:solidFill>
                  <a:schemeClr val="bg1"/>
                </a:solidFill>
              </a:rPr>
              <a:t>Customer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Tenure</a:t>
            </a:r>
            <a:r>
              <a:rPr lang="es-ES" sz="2000" dirty="0">
                <a:solidFill>
                  <a:schemeClr val="bg1"/>
                </a:solidFill>
              </a:rPr>
              <a:t>).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b="1" dirty="0">
                <a:solidFill>
                  <a:schemeClr val="bg1"/>
                </a:solidFill>
              </a:rPr>
              <a:t>El Modelo: </a:t>
            </a:r>
            <a:r>
              <a:rPr lang="es-ES" sz="2000" dirty="0">
                <a:solidFill>
                  <a:schemeClr val="bg1"/>
                </a:solidFill>
              </a:rPr>
              <a:t>Clasificador de </a:t>
            </a:r>
            <a:r>
              <a:rPr lang="es-ES" sz="2000" i="1" dirty="0">
                <a:solidFill>
                  <a:schemeClr val="bg1"/>
                </a:solidFill>
              </a:rPr>
              <a:t>Regresión Logística </a:t>
            </a:r>
            <a:r>
              <a:rPr lang="es-ES" sz="2000" dirty="0">
                <a:solidFill>
                  <a:schemeClr val="bg1"/>
                </a:solidFill>
              </a:rPr>
              <a:t>simple entrenado mediante Spark ML utilizando un </a:t>
            </a:r>
            <a:r>
              <a:rPr lang="es-ES" sz="2000" dirty="0" err="1">
                <a:solidFill>
                  <a:schemeClr val="bg1"/>
                </a:solidFill>
              </a:rPr>
              <a:t>split</a:t>
            </a:r>
            <a:r>
              <a:rPr lang="es-ES" sz="2000" dirty="0">
                <a:solidFill>
                  <a:schemeClr val="bg1"/>
                </a:solidFill>
              </a:rPr>
              <a:t> estricto de datos (80% entrenamiento / 20% validación segregada).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b="1" dirty="0">
                <a:solidFill>
                  <a:schemeClr val="bg1"/>
                </a:solidFill>
              </a:rPr>
              <a:t>Métrica de Éxito: </a:t>
            </a:r>
            <a:r>
              <a:rPr lang="es-ES" sz="2000" dirty="0">
                <a:solidFill>
                  <a:schemeClr val="bg1"/>
                </a:solidFill>
              </a:rPr>
              <a:t>Se alcanzó un AUC-ROC sobresaliente de 0.9993 en el conjunto de prueba, garantizando una precisión matemática impecable para predecir clientes de alto valor.</a:t>
            </a:r>
            <a:br>
              <a:rPr lang="es-ES" sz="2000" b="1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br>
              <a:rPr lang="es-PE" sz="1600" b="1" dirty="0">
                <a:solidFill>
                  <a:schemeClr val="bg1"/>
                </a:solidFill>
              </a:rPr>
            </a:br>
            <a:br>
              <a:rPr lang="es-PE" sz="1600" b="1" dirty="0">
                <a:solidFill>
                  <a:schemeClr val="bg1"/>
                </a:solidFill>
              </a:rPr>
            </a:b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1902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CECCB-1B57-DA9E-70F1-26D0AF55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7BE9A6-96CB-6010-2EBF-0B79A90F2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60043B-121E-AE08-D388-5C63F9510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99409B-201F-28E0-D207-7ED03DB8E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19957C-0E47-4077-2970-09B25953B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5590D2-738E-005C-3768-07E5668E8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EA4967-9741-C71D-EE5F-DD0A0EBAD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07FE9B1-42FD-8EAA-011C-B2A8C1164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DC8D04-9036-DC9E-488A-0CCFB9BA0BC2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Feature Engineering &amp; Modelo de Machine Learning</a:t>
            </a:r>
            <a:endParaRPr lang="es-PE" sz="3600" dirty="0">
              <a:solidFill>
                <a:schemeClr val="bg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4C8DC71-2F2A-8CED-7324-36384E531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67" y="1159987"/>
            <a:ext cx="10510019" cy="4729040"/>
          </a:xfrm>
        </p:spPr>
        <p:txBody>
          <a:bodyPr>
            <a:noAutofit/>
          </a:bodyPr>
          <a:lstStyle/>
          <a:p>
            <a:pPr algn="l"/>
            <a:r>
              <a:rPr lang="es-ES" sz="2000" dirty="0">
                <a:solidFill>
                  <a:schemeClr val="bg1"/>
                </a:solidFill>
              </a:rPr>
              <a:t>Preparación del </a:t>
            </a:r>
            <a:r>
              <a:rPr lang="es-ES" sz="2000" dirty="0" err="1">
                <a:solidFill>
                  <a:schemeClr val="bg1"/>
                </a:solidFill>
              </a:rPr>
              <a:t>Feature</a:t>
            </a:r>
            <a:r>
              <a:rPr lang="es-ES" sz="2000" dirty="0">
                <a:solidFill>
                  <a:schemeClr val="bg1"/>
                </a:solidFill>
              </a:rPr>
              <a:t> Store (Capa Gold): Construcción del modelo customer_360 calculando variables analíticas clave solicitadas: </a:t>
            </a:r>
            <a:r>
              <a:rPr lang="es-ES" sz="2000" dirty="0" err="1">
                <a:solidFill>
                  <a:schemeClr val="bg1"/>
                </a:solidFill>
              </a:rPr>
              <a:t>Recency</a:t>
            </a:r>
            <a:r>
              <a:rPr lang="es-ES" sz="2000" dirty="0">
                <a:solidFill>
                  <a:schemeClr val="bg1"/>
                </a:solidFill>
              </a:rPr>
              <a:t> (días desde la última compra), </a:t>
            </a:r>
            <a:r>
              <a:rPr lang="es-ES" sz="2000" dirty="0" err="1">
                <a:solidFill>
                  <a:schemeClr val="bg1"/>
                </a:solidFill>
              </a:rPr>
              <a:t>Frequency</a:t>
            </a:r>
            <a:r>
              <a:rPr lang="es-ES" sz="2000" dirty="0">
                <a:solidFill>
                  <a:schemeClr val="bg1"/>
                </a:solidFill>
              </a:rPr>
              <a:t> (órdenes totales, frecuencia a 30 y 90 días), </a:t>
            </a:r>
            <a:r>
              <a:rPr lang="es-ES" sz="2000" dirty="0" err="1">
                <a:solidFill>
                  <a:schemeClr val="bg1"/>
                </a:solidFill>
              </a:rPr>
              <a:t>Monetary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Value</a:t>
            </a:r>
            <a:r>
              <a:rPr lang="es-ES" sz="2000" dirty="0">
                <a:solidFill>
                  <a:schemeClr val="bg1"/>
                </a:solidFill>
              </a:rPr>
              <a:t> (gasto total), Ticket Promedio y Antigüedad (</a:t>
            </a:r>
            <a:r>
              <a:rPr lang="es-ES" sz="2000" dirty="0" err="1">
                <a:solidFill>
                  <a:schemeClr val="bg1"/>
                </a:solidFill>
              </a:rPr>
              <a:t>Customer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Tenure</a:t>
            </a:r>
            <a:r>
              <a:rPr lang="es-ES" sz="2000" dirty="0">
                <a:solidFill>
                  <a:schemeClr val="bg1"/>
                </a:solidFill>
              </a:rPr>
              <a:t>).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El Modelo: Clasificador de Regresión Logística simple entrenado mediante Spark ML utilizando un </a:t>
            </a:r>
            <a:r>
              <a:rPr lang="es-ES" sz="2000" dirty="0" err="1">
                <a:solidFill>
                  <a:schemeClr val="bg1"/>
                </a:solidFill>
              </a:rPr>
              <a:t>split</a:t>
            </a:r>
            <a:r>
              <a:rPr lang="es-ES" sz="2000" dirty="0">
                <a:solidFill>
                  <a:schemeClr val="bg1"/>
                </a:solidFill>
              </a:rPr>
              <a:t> estricto de datos (80% entrenamiento / 20% validación segregada).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Métrica de Éxito: Se alcanzó un AUC-ROC sobresaliente de 0.9993 en el conjunto de prueba, garantizando una precisión matemática impecable para predecir clientes de alto valor.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Capa de Traducción de Negocio (Consumo BI Ready): Creación de la tabla final </a:t>
            </a:r>
            <a:r>
              <a:rPr lang="es-ES" sz="2000" dirty="0" err="1">
                <a:solidFill>
                  <a:schemeClr val="bg1"/>
                </a:solidFill>
              </a:rPr>
              <a:t>final_predictions_ml_analytics</a:t>
            </a:r>
            <a:r>
              <a:rPr lang="es-ES" sz="2000" dirty="0">
                <a:solidFill>
                  <a:schemeClr val="bg1"/>
                </a:solidFill>
              </a:rPr>
              <a:t>: Los vectores complejos nativos de Spark ML se transforman en campos semánticos de texto plano (Cliente VIP) y porcentajes limpios de certeza (ej. 96.57%). Esto independiza el cómputo y habilita un consumo directo, seguro y veloz para tableros de Power BI o consultas directas a la tabla sin necesidad de reentrenar el modelo.</a:t>
            </a:r>
            <a:br>
              <a:rPr lang="es-PE" sz="1600" b="1" dirty="0">
                <a:solidFill>
                  <a:schemeClr val="bg1"/>
                </a:solidFill>
              </a:rPr>
            </a:b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369428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E4995-EE34-A983-889B-6FF2D2FD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AD25968-1EAF-E75E-E0BC-4D00B73E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D909A0-DCC4-D745-38BB-C27001970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B8D055-F7E6-61A4-22E7-37400BA74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2CE83E-09F2-A469-5BE1-789829450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0FCA3B-D7A4-2A35-DB04-D86F001D4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4DDAA4-D8F0-BA51-9296-C35A42F50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75CF7EF-B16D-0D5C-13ED-713E126B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0B89D9-53F1-48D8-AEF5-C3B4EB15E596}"/>
              </a:ext>
            </a:extLst>
          </p:cNvPr>
          <p:cNvSpPr txBox="1"/>
          <p:nvPr/>
        </p:nvSpPr>
        <p:spPr>
          <a:xfrm>
            <a:off x="330201" y="204169"/>
            <a:ext cx="114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chemeClr val="bg1"/>
                </a:solidFill>
              </a:rPr>
              <a:t>Conclusiones y Sugerencias Basadas en el Modelo</a:t>
            </a:r>
            <a:endParaRPr lang="es-PE" sz="3600" dirty="0">
              <a:solidFill>
                <a:schemeClr val="bg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3C48EEA-C8B4-3E60-4138-DFC637350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267" y="1159987"/>
            <a:ext cx="10510019" cy="4729040"/>
          </a:xfrm>
        </p:spPr>
        <p:txBody>
          <a:bodyPr>
            <a:noAutofit/>
          </a:bodyPr>
          <a:lstStyle/>
          <a:p>
            <a:pPr algn="l"/>
            <a:r>
              <a:rPr lang="es-ES" sz="2000" dirty="0">
                <a:solidFill>
                  <a:schemeClr val="bg1"/>
                </a:solidFill>
              </a:rPr>
              <a:t>Conclusión Técnica: La combinación de </a:t>
            </a:r>
            <a:r>
              <a:rPr lang="es-ES" sz="2000" dirty="0" err="1">
                <a:solidFill>
                  <a:schemeClr val="bg1"/>
                </a:solidFill>
              </a:rPr>
              <a:t>dbt</a:t>
            </a:r>
            <a:r>
              <a:rPr lang="es-ES" sz="2000" dirty="0">
                <a:solidFill>
                  <a:schemeClr val="bg1"/>
                </a:solidFill>
              </a:rPr>
              <a:t> Core y Azure Databricks robustece el gobierno de datos, reduce los costos de almacenamiento en el Data Lake y asegura que la Inteligencia Artificial se alimente exclusivamente de datos certificados.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b="1" dirty="0">
                <a:solidFill>
                  <a:schemeClr val="bg1"/>
                </a:solidFill>
              </a:rPr>
              <a:t>Sugerencias para el Negocio: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Campañas Quirúrgicas: 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Utilizar el Score de Certeza Porcentual de la tabla analítica para activar pautas publicitarias automatizadas en Facebook/Google </a:t>
            </a:r>
            <a:r>
              <a:rPr lang="es-ES" sz="2000" dirty="0" err="1">
                <a:solidFill>
                  <a:schemeClr val="bg1"/>
                </a:solidFill>
              </a:rPr>
              <a:t>Ads</a:t>
            </a:r>
            <a:r>
              <a:rPr lang="es-ES" sz="2000" dirty="0">
                <a:solidFill>
                  <a:schemeClr val="bg1"/>
                </a:solidFill>
              </a:rPr>
              <a:t> dirigidas únicamente a perfiles con alta probabilidad de ser VIP.</a:t>
            </a:r>
            <a:br>
              <a:rPr lang="es-ES" sz="2000" dirty="0">
                <a:solidFill>
                  <a:schemeClr val="bg1"/>
                </a:solidFill>
              </a:rPr>
            </a:b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Mitigación de Churn (tasa de cancelación): 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Clientes clasificados en el segmento regular con un alto indicador de </a:t>
            </a:r>
            <a:r>
              <a:rPr lang="es-ES" sz="2000" dirty="0" err="1">
                <a:solidFill>
                  <a:schemeClr val="bg1"/>
                </a:solidFill>
              </a:rPr>
              <a:t>days_since_last_purchase</a:t>
            </a:r>
            <a:r>
              <a:rPr lang="es-ES" sz="2000" dirty="0">
                <a:solidFill>
                  <a:schemeClr val="bg1"/>
                </a:solidFill>
              </a:rPr>
              <a:t> deben ser disparados automáticamente en ADF hacia un flujo de email marketing con ofertas de reactivación basadas en su categoría preferida (</a:t>
            </a:r>
            <a:r>
              <a:rPr lang="es-ES" sz="2000" dirty="0" err="1">
                <a:solidFill>
                  <a:schemeClr val="bg1"/>
                </a:solidFill>
              </a:rPr>
              <a:t>preferred_category</a:t>
            </a:r>
            <a:r>
              <a:rPr lang="es-ES" sz="2000" dirty="0">
                <a:solidFill>
                  <a:schemeClr val="bg1"/>
                </a:solidFill>
              </a:rPr>
              <a:t>).</a:t>
            </a:r>
            <a:br>
              <a:rPr lang="es-ES" sz="2000" b="1" dirty="0">
                <a:solidFill>
                  <a:schemeClr val="bg1"/>
                </a:solidFill>
              </a:rPr>
            </a:b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216250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</TotalTime>
  <Words>904</Words>
  <Application>Microsoft Office PowerPoint</Application>
  <PresentationFormat>Panorámica</PresentationFormat>
  <Paragraphs>14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Implementación de Arquitectura Lakehouse Inteligente:  Pipeline Batch y Modelado Predictivo de Clientes VIP.  Estructura del Proceso: Desde la Fuente Cruda (ADLS Gen2) hasta el Consumo de Negocio (BI + ML).    Autor: Ernesto Luyo </vt:lpstr>
      <vt:lpstr> El Problema:  El equipo de marketing de e-commerce gasta presupuesto masivo ineficiente enviando promociones genéricas a toda la base de usuarios. Existen pérdidas económicas por falta de segmentación, problemas de calidad de datos en el origen (ventas duplicadas y campos corruptos) y falta de  visibilidad del comportamiento del consumidor en tiempo real.  El Objetivo:  Diseñar un pipeline de datos moderno, automatizado e integrado que extraiga, limpie y certifique la información de transacciones de e-commerce. Construir un modelo predictivo capaz de identificar tempranamente a los clientes de Alto Valor (VIP) con métricas confiables para optimizar la toma de decisiones estratégicas.   </vt:lpstr>
      <vt:lpstr>El Ecosistema Cloud: Azure Data Factory (Orquestador) + ADLS Gen2 (Almacenamiento arquitectura Medallion) + Azure Databricks Single Node (Motor de procesamiento Spark de alto rendimiento y bajo costo).  Gobernanza y Transformación: dbt Core centraliza las transformaciones mediante SQL modular y automatiza las reglas de control de calidad. Unity Catalog asegura la gobernanza de datos aislando los esquemas (raw, silver, gold) mediante políticas de seguridad estructuradas.  </vt:lpstr>
      <vt:lpstr>Presentación de PowerPoint</vt:lpstr>
      <vt:lpstr>El Cuarentena Bloqueante (Capa RAW): Filtro inmediato en PySpark que ataja y desvía registros con identificadores vacíos, cantidades nulas o precios negativos hacia la tabla aislada quarantine_sales. Los datos inválidos no contaminan las fases posteriores.  Auditoría con dbt Core (Capa Silver): Implementación de 6 pruebas automatizadas de control técnico (unique, not_null, relationships).  Evidencia de Éxito/Fallo: Demostración de cómo el sistema captura anomalías: el test de dbt detectó 5 duplicados inyectados adrede y los aisló físicamente mediante el parámetro --store-failures en una tabla de auditoría dedicada para su revisión, resolviendo el problema de raíz en la transformación aplicando una ventana analítica ROW_NUMBER().   </vt:lpstr>
      <vt:lpstr>Preparación del Feature Store (Capa Gold): Construcción del modelo customer_360 calculando variables analíticas clave solicitadas: Recency (días desde la última compra), Frequency (órdenes totales, frecuencia a 30 y 90 días), Monetary Value (gasto total), Ticket Promedio y Antigüedad (Customer Tenure).  El Modelo: Clasificador de Regresión Logística simple entrenado mediante Spark ML utilizando un split estricto de datos (80% entrenamiento / 20% validación segregada).  Métrica de Éxito: Se alcanzó un AUC-ROC sobresaliente de 0.9993 en el conjunto de prueba, garantizando una precisión matemática impecable para predecir clientes de alto valor.    </vt:lpstr>
      <vt:lpstr>Preparación del Feature Store (Capa Gold): Construcción del modelo customer_360 calculando variables analíticas clave solicitadas: Recency (días desde la última compra), Frequency (órdenes totales, frecuencia a 30 y 90 días), Monetary Value (gasto total), Ticket Promedio y Antigüedad (Customer Tenure).  El Modelo: Clasificador de Regresión Logística simple entrenado mediante Spark ML utilizando un split estricto de datos (80% entrenamiento / 20% validación segregada).  Métrica de Éxito: Se alcanzó un AUC-ROC sobresaliente de 0.9993 en el conjunto de prueba, garantizando una precisión matemática impecable para predecir clientes de alto valor.  Capa de Traducción de Negocio (Consumo BI Ready): Creación de la tabla final final_predictions_ml_analytics: Los vectores complejos nativos de Spark ML se transforman en campos semánticos de texto plano (Cliente VIP) y porcentajes limpios de certeza (ej. 96.57%). Esto independiza el cómputo y habilita un consumo directo, seguro y veloz para tableros de Power BI o consultas directas a la tabla sin necesidad de reentrenar el modelo. </vt:lpstr>
      <vt:lpstr>Conclusión Técnica: La combinación de dbt Core y Azure Databricks robustece el gobierno de datos, reduce los costos de almacenamiento en el Data Lake y asegura que la Inteligencia Artificial se alimente exclusivamente de datos certificados.  Sugerencias para el Negocio:  Campañas Quirúrgicas:  Utilizar el Score de Certeza Porcentual de la tabla analítica para activar pautas publicitarias automatizadas en Facebook/Google Ads dirigidas únicamente a perfiles con alta probabilidad de ser VIP.  Mitigación de Churn (tasa de cancelación):  Clientes clasificados en el segmento regular con un alto indicador de days_since_last_purchase deben ser disparados automáticamente en ADF hacia un flujo de email marketing con ofertas de reactivación basadas en su categoría preferida (preferred_category).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Sintaxis</dc:creator>
  <cp:lastModifiedBy>Sintaxis</cp:lastModifiedBy>
  <cp:revision>21</cp:revision>
  <dcterms:created xsi:type="dcterms:W3CDTF">2025-06-14T14:00:31Z</dcterms:created>
  <dcterms:modified xsi:type="dcterms:W3CDTF">2026-10-19T18:37:43Z</dcterms:modified>
</cp:coreProperties>
</file>